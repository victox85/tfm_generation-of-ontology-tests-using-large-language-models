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2" r:id="rId2"/>
    <p:sldId id="263" r:id="rId3"/>
    <p:sldId id="264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D3527-0CBA-4321-A97E-EA2E46E20EB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799A3-9247-4875-841D-F248DE87C11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5951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A26214-2702-B750-321E-22BBAF8B8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AE3B94-A677-B589-B355-96B80DF8A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D121E9-27B9-42DF-98AC-B71C7E290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61E06-161A-490F-A733-DBB93713B6B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350F7C-D333-0947-E5DD-C77E1C93A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2A5FDB-70E6-837C-3AC2-CE79E6BD7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002F9-F559-4BCE-BE98-73715D093D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2211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A6D75-73B9-FFF9-3B75-B6F422D26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906C4D-739C-FEC1-48FF-53F2231E3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35AE7D-46FB-FCFD-2286-FF0692AF4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61E06-161A-490F-A733-DBB93713B6B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8B787D-ED48-8462-DE7F-6C55E4C27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E71EA-B754-EABC-EE6E-16DA0EC85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002F9-F559-4BCE-BE98-73715D093D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2375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36BFFF-0498-262A-D49B-950C259A0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F89D7B-31A1-54EE-1593-74BB52B3C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9328B7-7622-E0D6-F1CF-FEFC4EFCA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61E06-161A-490F-A733-DBB93713B6B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C1ECB7-7690-AF40-F47D-1B05CF56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2882C6-657D-F39C-75D8-45AA6A05D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002F9-F559-4BCE-BE98-73715D093D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6970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F5F1D3-9705-6E58-2685-1294DEA7F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7B8551-D0FE-2A0E-0B5B-5FCC4D5959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FA9AC9-0AB5-81B2-A829-581E570530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534E66-D09A-94D8-0339-6B1F57F9D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61E06-161A-490F-A733-DBB93713B6B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92D662-85AB-A4B2-503B-35B92086D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668F89-FEE5-8A79-8C8E-82CFF6058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002F9-F559-4BCE-BE98-73715D093D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4952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627A0E-B28C-470B-360B-00F855C70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FC04F1-83A7-E182-83D4-ADA1C930C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E1BC086-7546-C5D9-768F-BF4C0D0F3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60ADEF-2DD3-C4E2-D52D-9D9081D2B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6FA44A4-733F-A245-D00F-F6D6228FB6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9830B99-E7CA-450E-3D82-10723ECB3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61E06-161A-490F-A733-DBB93713B6B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4B8DED4-1161-E81A-1AC9-09CB99106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3FD0A15-5053-BAC2-A603-27E939888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002F9-F559-4BCE-BE98-73715D093D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4943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422C64-BBAF-1008-1098-2A3FC0AD9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9127E21-2CBD-851E-F1EB-23C7D7DFC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61E06-161A-490F-A733-DBB93713B6B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F57A2A9-B4E2-ACF5-EF6D-61F060721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3367EAC-B23B-2D2B-CA6D-80D4A77C7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002F9-F559-4BCE-BE98-73715D093D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7900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95ADF6A-BE33-FD9A-557E-9C3ECB111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61E06-161A-490F-A733-DBB93713B6B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BEB07A0-2C94-4844-C9CE-6761AC0C0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1186CD5-9457-D1D4-6B94-1E3F56C43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002F9-F559-4BCE-BE98-73715D093D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1901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A23B94-0865-4C2D-DD96-E2AC6F161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98FB68-07D6-08D8-E8C0-2E56E233F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0ED37E1-67F5-5A06-5588-9D8B60B24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0B773D-4F60-5075-DD1B-ACBD387AD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61E06-161A-490F-A733-DBB93713B6B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82465D0-CD1A-F608-0E6B-A123D7181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39FA05-6AC5-15DA-6251-5CD76870E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002F9-F559-4BCE-BE98-73715D093D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7100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1120D-E16F-DFD4-89B0-F912E83C8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E5E3BB6-1F49-4136-3184-883940A7B2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FB4D4D-C37C-F331-EE6F-A5F721FA0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EA90A3-10CB-9856-3AE9-877F900EC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61E06-161A-490F-A733-DBB93713B6B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41FF91-F5B4-BB8C-2237-1EB0A27C9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231ACC6-0B86-C06E-E7BA-F2D171221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002F9-F559-4BCE-BE98-73715D093D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5472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3AAAE1-1071-C11B-7284-829DCB340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2C776C-9E34-834C-188B-6D7C7031E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81766C-C19B-2E92-9425-80B7D0FE5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61E06-161A-490F-A733-DBB93713B6B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1665AF-E2F4-7879-E4B3-0A7A53630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9ACBA7-5310-C532-E2BA-734FAE982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002F9-F559-4BCE-BE98-73715D093D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7160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91FE433-3672-87BD-04BC-3E0EB6A152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81FC571-61C1-1F1D-EA89-4E057A3CD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AB31C2-AFF5-C6E6-C012-3004758CD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61E06-161A-490F-A733-DBB93713B6B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8A76B3-9252-C918-C8B0-96958497A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84B47F-D000-5288-C499-FCAEF6C7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002F9-F559-4BCE-BE98-73715D093D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38492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676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C386A28-FCE0-AE2E-516C-7D0C92F8D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286BFA-38C3-43B6-0E7B-CA3239944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2435D2-918C-0162-FB7C-7752E2CA9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261E06-161A-490F-A733-DBB93713B6B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060294-8ACC-9D53-F9E2-FEE4EF57F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B57711-6DEE-9E8B-46FA-B29C60C51D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002F9-F559-4BCE-BE98-73715D093D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8240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4A018"/>
          </a:solidFill>
          <a:ln w="12700">
            <a:solidFill>
              <a:srgbClr val="F4A018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5" name="Text 3"/>
          <p:cNvSpPr/>
          <p:nvPr/>
        </p:nvSpPr>
        <p:spPr>
          <a:xfrm>
            <a:off x="853440" y="1950720"/>
            <a:ext cx="975360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Ontología de Libros</a:t>
            </a:r>
            <a:endParaRPr lang="en-US" sz="4267" dirty="0"/>
          </a:p>
          <a:p>
            <a:r>
              <a:rPr lang="en-US" sz="42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Themis</a:t>
            </a:r>
            <a:endParaRPr lang="en-US" sz="4267" dirty="0"/>
          </a:p>
        </p:txBody>
      </p:sp>
      <p:sp>
        <p:nvSpPr>
          <p:cNvPr id="6" name="Shape 4"/>
          <p:cNvSpPr/>
          <p:nvPr/>
        </p:nvSpPr>
        <p:spPr>
          <a:xfrm>
            <a:off x="853440" y="3718560"/>
            <a:ext cx="5486400" cy="60960"/>
          </a:xfrm>
          <a:prstGeom prst="rect">
            <a:avLst/>
          </a:prstGeom>
          <a:solidFill>
            <a:srgbClr val="F4A018"/>
          </a:solidFill>
          <a:ln w="12700">
            <a:solidFill>
              <a:srgbClr val="F4A018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7" name="Text 5"/>
          <p:cNvSpPr/>
          <p:nvPr/>
        </p:nvSpPr>
        <p:spPr>
          <a:xfrm>
            <a:off x="853440" y="3901440"/>
            <a:ext cx="99974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ontología · 5 tests de competencia · Resultados</a:t>
            </a:r>
            <a:endParaRPr lang="en-US" sz="18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3" name="Text 1"/>
          <p:cNvSpPr/>
          <p:nvPr/>
        </p:nvSpPr>
        <p:spPr>
          <a:xfrm>
            <a:off x="463296" y="60960"/>
            <a:ext cx="1133856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1.La Ontología — Dominio: Libros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632960" y="1731264"/>
            <a:ext cx="2926080" cy="75590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7" name="Text 5"/>
          <p:cNvSpPr/>
          <p:nvPr/>
        </p:nvSpPr>
        <p:spPr>
          <a:xfrm>
            <a:off x="4632960" y="1731264"/>
            <a:ext cx="29260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096000" y="2487168"/>
            <a:ext cx="0" cy="463296"/>
          </a:xfrm>
          <a:prstGeom prst="line">
            <a:avLst/>
          </a:prstGeom>
          <a:noFill/>
          <a:ln w="254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9" name="Text 7"/>
          <p:cNvSpPr/>
          <p:nvPr/>
        </p:nvSpPr>
        <p:spPr>
          <a:xfrm>
            <a:off x="5937504" y="2804160"/>
            <a:ext cx="304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0D1F3C"/>
                </a:solidFill>
              </a:rPr>
              <a:t>▼</a:t>
            </a:r>
            <a:endParaRPr lang="en-US" sz="1333" dirty="0"/>
          </a:p>
        </p:txBody>
      </p:sp>
      <p:sp>
        <p:nvSpPr>
          <p:cNvPr id="10" name="Text 8"/>
          <p:cNvSpPr/>
          <p:nvPr/>
        </p:nvSpPr>
        <p:spPr>
          <a:xfrm>
            <a:off x="6169152" y="2560320"/>
            <a:ext cx="146304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subClassOf</a:t>
            </a:r>
            <a:endParaRPr lang="en-US" sz="1133" dirty="0"/>
          </a:p>
        </p:txBody>
      </p:sp>
      <p:sp>
        <p:nvSpPr>
          <p:cNvPr id="11" name="Shape 9"/>
          <p:cNvSpPr/>
          <p:nvPr/>
        </p:nvSpPr>
        <p:spPr>
          <a:xfrm>
            <a:off x="4632960" y="2950464"/>
            <a:ext cx="2926080" cy="7559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12" name="Text 10"/>
          <p:cNvSpPr/>
          <p:nvPr/>
        </p:nvSpPr>
        <p:spPr>
          <a:xfrm>
            <a:off x="4632960" y="2950464"/>
            <a:ext cx="29260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26720" y="2950464"/>
            <a:ext cx="3048000" cy="755904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14" name="Text 12"/>
          <p:cNvSpPr/>
          <p:nvPr/>
        </p:nvSpPr>
        <p:spPr>
          <a:xfrm>
            <a:off x="426720" y="2950464"/>
            <a:ext cx="30480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717280" y="2950464"/>
            <a:ext cx="3048000" cy="75590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16" name="Text 14"/>
          <p:cNvSpPr/>
          <p:nvPr/>
        </p:nvSpPr>
        <p:spPr>
          <a:xfrm>
            <a:off x="8717280" y="2950464"/>
            <a:ext cx="30480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Publisher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474720" y="3328416"/>
            <a:ext cx="1158240" cy="0"/>
          </a:xfrm>
          <a:prstGeom prst="line">
            <a:avLst/>
          </a:prstGeom>
          <a:noFill/>
          <a:ln w="19050">
            <a:solidFill>
              <a:srgbClr val="1A3A6E"/>
            </a:solidFill>
            <a:prstDash val="sysDash"/>
          </a:ln>
        </p:spPr>
        <p:txBody>
          <a:bodyPr/>
          <a:lstStyle/>
          <a:p>
            <a:endParaRPr lang="es-ES" sz="2400"/>
          </a:p>
        </p:txBody>
      </p:sp>
      <p:sp>
        <p:nvSpPr>
          <p:cNvPr id="18" name="Text 16"/>
          <p:cNvSpPr/>
          <p:nvPr/>
        </p:nvSpPr>
        <p:spPr>
          <a:xfrm>
            <a:off x="3474720" y="3108960"/>
            <a:ext cx="17068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writtenBy 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90560" y="3328416"/>
            <a:ext cx="426720" cy="0"/>
          </a:xfrm>
          <a:prstGeom prst="line">
            <a:avLst/>
          </a:prstGeom>
          <a:noFill/>
          <a:ln w="19050">
            <a:solidFill>
              <a:srgbClr val="6D28D9"/>
            </a:solidFill>
            <a:prstDash val="sysDash"/>
          </a:ln>
        </p:spPr>
        <p:txBody>
          <a:bodyPr/>
          <a:lstStyle/>
          <a:p>
            <a:endParaRPr lang="es-ES" sz="2400"/>
          </a:p>
        </p:txBody>
      </p:sp>
      <p:sp>
        <p:nvSpPr>
          <p:cNvPr id="20" name="Text 18"/>
          <p:cNvSpPr/>
          <p:nvPr/>
        </p:nvSpPr>
        <p:spPr>
          <a:xfrm>
            <a:off x="7010400" y="3108960"/>
            <a:ext cx="195072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publishedBy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6720" y="3925824"/>
            <a:ext cx="1133856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⊥ Author  disjointWith  Book  ·  Author  disjointWith  Publisher  ·  Book  disjointWith  Publisher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426720" y="4450080"/>
            <a:ext cx="11338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Propiedades de datos: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6720" y="4937760"/>
            <a:ext cx="54864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  [DataProperty]  Dom: Book  Rng: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xsd:string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6720" y="5486400"/>
            <a:ext cx="54864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 [DataProperty]  Dom: Book  Rng: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xsd:string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96000" y="4937760"/>
            <a:ext cx="54864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yearOfPublication  [DataProperty]  Dom: Book  Rng: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xsd:integer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5486400"/>
            <a:ext cx="54864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 [DataProperty]  Dom: Author / Publisher  Rng: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xsd:string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3" name="Text 1"/>
          <p:cNvSpPr/>
          <p:nvPr/>
        </p:nvSpPr>
        <p:spPr>
          <a:xfrm>
            <a:off x="463296" y="60960"/>
            <a:ext cx="1133856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2.Tests de Competencia — Themis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0144" y="999744"/>
            <a:ext cx="11411712" cy="999744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5" name="Shape 3"/>
          <p:cNvSpPr/>
          <p:nvPr/>
        </p:nvSpPr>
        <p:spPr>
          <a:xfrm>
            <a:off x="390144" y="999744"/>
            <a:ext cx="341376" cy="99974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6" name="Text 4"/>
          <p:cNvSpPr/>
          <p:nvPr/>
        </p:nvSpPr>
        <p:spPr>
          <a:xfrm>
            <a:off x="804672" y="1048512"/>
            <a:ext cx="609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T1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1487424" y="1097280"/>
            <a:ext cx="3840480" cy="316992"/>
          </a:xfrm>
          <a:prstGeom prst="rect">
            <a:avLst/>
          </a:prstGeom>
          <a:solidFill>
            <a:srgbClr val="1A56A0">
              <a:alpha val="16000"/>
            </a:srgbClr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8" name="Text 6"/>
          <p:cNvSpPr/>
          <p:nvPr/>
        </p:nvSpPr>
        <p:spPr>
          <a:xfrm>
            <a:off x="1487424" y="1097280"/>
            <a:ext cx="38404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b="1" dirty="0">
                <a:solidFill>
                  <a:srgbClr val="1A5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[ClassA] type Class</a:t>
            </a:r>
            <a:endParaRPr lang="en-US" sz="1133" dirty="0"/>
          </a:p>
        </p:txBody>
      </p:sp>
      <p:sp>
        <p:nvSpPr>
          <p:cNvPr id="11" name="Shape 9"/>
          <p:cNvSpPr/>
          <p:nvPr/>
        </p:nvSpPr>
        <p:spPr>
          <a:xfrm>
            <a:off x="5462016" y="1072896"/>
            <a:ext cx="524256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2" name="Text 10"/>
          <p:cNvSpPr/>
          <p:nvPr/>
        </p:nvSpPr>
        <p:spPr>
          <a:xfrm>
            <a:off x="5535168" y="107289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 type Class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0144" y="2121408"/>
            <a:ext cx="11411712" cy="999744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16" name="Shape 14"/>
          <p:cNvSpPr/>
          <p:nvPr/>
        </p:nvSpPr>
        <p:spPr>
          <a:xfrm>
            <a:off x="390144" y="2121408"/>
            <a:ext cx="341376" cy="99974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7" name="Text 15"/>
          <p:cNvSpPr/>
          <p:nvPr/>
        </p:nvSpPr>
        <p:spPr>
          <a:xfrm>
            <a:off x="804672" y="2170176"/>
            <a:ext cx="609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1733" dirty="0"/>
          </a:p>
        </p:txBody>
      </p:sp>
      <p:sp>
        <p:nvSpPr>
          <p:cNvPr id="18" name="Shape 16"/>
          <p:cNvSpPr/>
          <p:nvPr/>
        </p:nvSpPr>
        <p:spPr>
          <a:xfrm>
            <a:off x="1487424" y="2218944"/>
            <a:ext cx="3840480" cy="316992"/>
          </a:xfrm>
          <a:prstGeom prst="rect">
            <a:avLst/>
          </a:prstGeom>
          <a:solidFill>
            <a:srgbClr val="6D28D9">
              <a:alpha val="16000"/>
            </a:srgbClr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9" name="Text 17"/>
          <p:cNvSpPr/>
          <p:nvPr/>
        </p:nvSpPr>
        <p:spPr>
          <a:xfrm>
            <a:off x="1487424" y="2218944"/>
            <a:ext cx="38404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[ClassA] SubClassOf [ClassB]</a:t>
            </a:r>
            <a:endParaRPr lang="en-US" sz="1133" dirty="0"/>
          </a:p>
        </p:txBody>
      </p:sp>
      <p:sp>
        <p:nvSpPr>
          <p:cNvPr id="22" name="Shape 20"/>
          <p:cNvSpPr/>
          <p:nvPr/>
        </p:nvSpPr>
        <p:spPr>
          <a:xfrm>
            <a:off x="5462016" y="2194560"/>
            <a:ext cx="524256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3" name="Text 21"/>
          <p:cNvSpPr/>
          <p:nvPr/>
        </p:nvSpPr>
        <p:spPr>
          <a:xfrm>
            <a:off x="5535168" y="2194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 SubClassOf Person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90144" y="3243072"/>
            <a:ext cx="11411712" cy="999744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27" name="Shape 25"/>
          <p:cNvSpPr/>
          <p:nvPr/>
        </p:nvSpPr>
        <p:spPr>
          <a:xfrm>
            <a:off x="390144" y="3243072"/>
            <a:ext cx="341376" cy="999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8" name="Text 26"/>
          <p:cNvSpPr/>
          <p:nvPr/>
        </p:nvSpPr>
        <p:spPr>
          <a:xfrm>
            <a:off x="804672" y="3291840"/>
            <a:ext cx="609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1733" dirty="0"/>
          </a:p>
        </p:txBody>
      </p:sp>
      <p:sp>
        <p:nvSpPr>
          <p:cNvPr id="29" name="Shape 27"/>
          <p:cNvSpPr/>
          <p:nvPr/>
        </p:nvSpPr>
        <p:spPr>
          <a:xfrm>
            <a:off x="1487424" y="3340608"/>
            <a:ext cx="3840480" cy="316992"/>
          </a:xfrm>
          <a:prstGeom prst="rect">
            <a:avLst/>
          </a:prstGeom>
          <a:solidFill>
            <a:srgbClr val="15803D">
              <a:alpha val="16000"/>
            </a:srgbClr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30" name="Text 28"/>
          <p:cNvSpPr/>
          <p:nvPr/>
        </p:nvSpPr>
        <p:spPr>
          <a:xfrm>
            <a:off x="1487424" y="3340608"/>
            <a:ext cx="38404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[Prop] domain [ClassA]</a:t>
            </a:r>
            <a:endParaRPr lang="en-US" sz="1133" dirty="0"/>
          </a:p>
        </p:txBody>
      </p:sp>
      <p:sp>
        <p:nvSpPr>
          <p:cNvPr id="33" name="Shape 31"/>
          <p:cNvSpPr/>
          <p:nvPr/>
        </p:nvSpPr>
        <p:spPr>
          <a:xfrm>
            <a:off x="5462016" y="3316224"/>
            <a:ext cx="524256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34" name="Text 32"/>
          <p:cNvSpPr/>
          <p:nvPr/>
        </p:nvSpPr>
        <p:spPr>
          <a:xfrm>
            <a:off x="5535168" y="331622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writtenBy domain Book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90144" y="4364736"/>
            <a:ext cx="11411712" cy="999744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38" name="Shape 36"/>
          <p:cNvSpPr/>
          <p:nvPr/>
        </p:nvSpPr>
        <p:spPr>
          <a:xfrm>
            <a:off x="390144" y="4364736"/>
            <a:ext cx="341376" cy="999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39" name="Text 37"/>
          <p:cNvSpPr/>
          <p:nvPr/>
        </p:nvSpPr>
        <p:spPr>
          <a:xfrm>
            <a:off x="804672" y="4413504"/>
            <a:ext cx="609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1733" dirty="0"/>
          </a:p>
        </p:txBody>
      </p:sp>
      <p:sp>
        <p:nvSpPr>
          <p:cNvPr id="40" name="Shape 38"/>
          <p:cNvSpPr/>
          <p:nvPr/>
        </p:nvSpPr>
        <p:spPr>
          <a:xfrm>
            <a:off x="1487424" y="4462272"/>
            <a:ext cx="3840480" cy="316992"/>
          </a:xfrm>
          <a:prstGeom prst="rect">
            <a:avLst/>
          </a:prstGeom>
          <a:solidFill>
            <a:srgbClr val="D97706">
              <a:alpha val="16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41" name="Text 39"/>
          <p:cNvSpPr/>
          <p:nvPr/>
        </p:nvSpPr>
        <p:spPr>
          <a:xfrm>
            <a:off x="1487424" y="4462272"/>
            <a:ext cx="38404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[Prop] range [ClassB]</a:t>
            </a:r>
            <a:endParaRPr lang="en-US" sz="1133" dirty="0"/>
          </a:p>
        </p:txBody>
      </p:sp>
      <p:sp>
        <p:nvSpPr>
          <p:cNvPr id="44" name="Shape 42"/>
          <p:cNvSpPr/>
          <p:nvPr/>
        </p:nvSpPr>
        <p:spPr>
          <a:xfrm>
            <a:off x="5462016" y="4437888"/>
            <a:ext cx="524256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45" name="Text 43"/>
          <p:cNvSpPr/>
          <p:nvPr/>
        </p:nvSpPr>
        <p:spPr>
          <a:xfrm>
            <a:off x="5535168" y="44378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yearOfPublication range xsd:integer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90144" y="5486400"/>
            <a:ext cx="11411712" cy="999744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49" name="Shape 47"/>
          <p:cNvSpPr/>
          <p:nvPr/>
        </p:nvSpPr>
        <p:spPr>
          <a:xfrm>
            <a:off x="390144" y="5486400"/>
            <a:ext cx="341376" cy="99974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50" name="Text 48"/>
          <p:cNvSpPr/>
          <p:nvPr/>
        </p:nvSpPr>
        <p:spPr>
          <a:xfrm>
            <a:off x="804672" y="5535168"/>
            <a:ext cx="609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1733" dirty="0"/>
          </a:p>
        </p:txBody>
      </p:sp>
      <p:sp>
        <p:nvSpPr>
          <p:cNvPr id="51" name="Shape 49"/>
          <p:cNvSpPr/>
          <p:nvPr/>
        </p:nvSpPr>
        <p:spPr>
          <a:xfrm>
            <a:off x="1487424" y="5583936"/>
            <a:ext cx="3840480" cy="316992"/>
          </a:xfrm>
          <a:prstGeom prst="rect">
            <a:avLst/>
          </a:prstGeom>
          <a:solidFill>
            <a:srgbClr val="B91C1C">
              <a:alpha val="16000"/>
            </a:srgbClr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52" name="Text 50"/>
          <p:cNvSpPr/>
          <p:nvPr/>
        </p:nvSpPr>
        <p:spPr>
          <a:xfrm>
            <a:off x="1487424" y="5583936"/>
            <a:ext cx="38404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[ClassA] disjointWith [ClassB]</a:t>
            </a:r>
            <a:endParaRPr lang="en-US" sz="1133" dirty="0"/>
          </a:p>
        </p:txBody>
      </p:sp>
      <p:sp>
        <p:nvSpPr>
          <p:cNvPr id="55" name="Shape 53"/>
          <p:cNvSpPr/>
          <p:nvPr/>
        </p:nvSpPr>
        <p:spPr>
          <a:xfrm>
            <a:off x="5462016" y="5559552"/>
            <a:ext cx="524256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56" name="Text 54"/>
          <p:cNvSpPr/>
          <p:nvPr/>
        </p:nvSpPr>
        <p:spPr>
          <a:xfrm>
            <a:off x="5535168" y="55595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 disjointWith Book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165</Words>
  <Application>Microsoft Office PowerPoint</Application>
  <PresentationFormat>Panorámica</PresentationFormat>
  <Paragraphs>37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Consolas</vt:lpstr>
      <vt:lpstr>Trebuchet MS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victox 85</dc:creator>
  <cp:lastModifiedBy>victox 85</cp:lastModifiedBy>
  <cp:revision>1</cp:revision>
  <dcterms:created xsi:type="dcterms:W3CDTF">2026-02-26T00:34:24Z</dcterms:created>
  <dcterms:modified xsi:type="dcterms:W3CDTF">2026-02-26T00:36:21Z</dcterms:modified>
</cp:coreProperties>
</file>