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7CFD3-FC86-4BBD-94FD-BE64FDF260CB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F66D5-D6CD-47FF-B40F-E256F829E1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00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FA366-AD66-CB8C-BF5D-55BF567FE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523C3B-5619-93F1-0288-A63E15A2C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7A262C-2204-3864-E51B-C78E07DE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53B3FB-425D-1838-D54C-FFB0ABE18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32D441-8017-3E34-3FB5-826C1254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305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D7551-9B80-D314-930D-1DA7DC55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34F47-677A-6447-82F4-F2C1D65F9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BEBF7A-F137-CEC0-E979-624EFDDEA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97D276-9565-D96C-D0BD-12A51DE2F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01DB0-F99D-E738-5282-7B0258F4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16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DF4CA-BD25-5A1C-F573-19C82B58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75397C-AF8A-916D-3818-D66BD6F8B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91AE34-92B9-B6E3-76BC-6FB6EF8C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FC377D-F93E-B3EF-C017-A79E1E72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6C6339-B2F6-D161-1CE4-3A09DC6D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298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23577-7296-562D-28AC-17728760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6D98BB-75FB-CBCA-1112-BD4D9F153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E5D9B3-C3F7-B756-551D-0BF17728E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4C21B3-6331-EBC0-50C3-87CDEFB4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7352E0-D23A-A30D-A0F7-0489AE60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A2FB17-CBF3-B270-9D55-BF00E056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501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49D23-197D-73B3-3DFA-ABCFED89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5D595A-77C0-0385-93E0-D7E9C9360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41442F-C4B5-2392-1F7C-F32E04A60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81FF8D-D79C-E043-7B45-8724B2F7D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FA7906-D407-C444-48FB-AFDA6CA4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24F0219-CF4A-C9B9-FB3F-8A6BFD76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E66AC0-C0D0-C767-4D71-FABC6393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BA9AD5-A66B-03DD-E446-26C009A8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78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BEB68-2759-7573-A506-969D806C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6FED22-4495-8F3E-AD86-462E83539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2051ED-B29A-F9DC-AC9B-50C39CA8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7AF632-B5E7-098D-AE63-0B3506B6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756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30E505-AD11-F086-EFA8-DC667539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7B27F25-DF94-9652-4536-4BEAC90B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B557F8-FFB2-9DAA-3B42-EA06331C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97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7152F-5D88-9A68-2506-1DD993CF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CF0E08-F2E5-694B-2FDB-813AD085A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5AB757-B00D-074D-9F44-625E80C1D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2E4369-0142-DF48-CC74-3E1A22DD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559666-7902-8509-949B-EABF2BE7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D58962-B34A-DF4E-4721-EE4ED5FB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897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1D6A7-2932-59FC-8317-64515CDD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8C0538-945E-87AB-2FA3-20CC258BB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EBF5E2-20E6-B766-BBE7-32B7F2F2F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751BCF-74A2-684B-7F16-37D4AD7A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31B024-0DE1-B70E-2C75-EF428770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51EFC3-ED8A-89B2-D2AB-A367A436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1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F3345-329E-C42D-D85F-9E09F159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178C82-C88C-7DA4-73DA-C1EA2E278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997C3-BAFF-911E-132C-545B45EF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A2F47-4B6D-32B0-F26B-3133F2C4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01AFC6-7A3A-FE46-181F-1F626715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76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954B26-D366-5008-F799-B91DC985A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DEB97A-298F-B65D-78E6-B7D942A7D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3C3496-E557-2B44-BFB1-E1E856B3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D3E124-7BA7-253E-6588-EFB21AB0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1C190C-5030-651B-8D15-DD068768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496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27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FA93F8-DC5D-2B96-096B-3A615100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9302DD-961B-47DD-6D65-EC1170EA6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02B56A-DF18-BF37-34CA-C80239A41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E0240-E187-4A3C-BCE2-699576F2B40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2C14BF-4659-F0D6-B72E-A48461821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F5E6E-29A0-A289-A515-E0F7354E5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7DC73-77A6-4ADC-9904-AF8C6BE46A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946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" name="Text 3"/>
          <p:cNvSpPr/>
          <p:nvPr/>
        </p:nvSpPr>
        <p:spPr>
          <a:xfrm>
            <a:off x="853440" y="1950720"/>
            <a:ext cx="97536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Ontologías, Metodologías</a:t>
            </a:r>
            <a:endParaRPr lang="en-US" sz="4267" dirty="0"/>
          </a:p>
          <a:p>
            <a:r>
              <a:rPr lang="en-US" sz="42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Pruebas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853440" y="3718560"/>
            <a:ext cx="5486400" cy="60960"/>
          </a:xfrm>
          <a:prstGeom prst="rect">
            <a:avLst/>
          </a:prstGeom>
          <a:solidFill>
            <a:srgbClr val="F4A018"/>
          </a:solidFill>
          <a:ln w="12700">
            <a:solidFill>
              <a:srgbClr val="F4A01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853440" y="3901440"/>
            <a:ext cx="9997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 las ontologías · Cómo se construyen · Cómo se validan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D4F6E"/>
          </a:solidFill>
          <a:ln w="12700">
            <a:solidFill>
              <a:srgbClr val="0D4F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463296" y="60960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una Ontología?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36320"/>
            <a:ext cx="5583936" cy="536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0D749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426720" y="1036320"/>
            <a:ext cx="5583936" cy="63398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548640" y="1036320"/>
            <a:ext cx="53400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Gruber, 1993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1804416"/>
            <a:ext cx="5218176" cy="1767840"/>
          </a:xfrm>
          <a:prstGeom prst="rect">
            <a:avLst/>
          </a:prstGeom>
          <a:solidFill>
            <a:srgbClr val="0D7490">
              <a:alpha val="12000"/>
            </a:srgbClr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694944" y="1853184"/>
            <a:ext cx="504748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0D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 explicit and formal specification</a:t>
            </a:r>
            <a:endParaRPr lang="en-US" sz="1600" dirty="0"/>
          </a:p>
          <a:p>
            <a:r>
              <a:rPr lang="en-US" sz="1600" i="1" dirty="0">
                <a:solidFill>
                  <a:srgbClr val="0D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 shared conceptualization."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3694176"/>
            <a:ext cx="521817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ontología define formalmente los conceptos de un dominio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(clases, propiedades, relaciones) de forma que puedan ser compartidos y reutilizados por personas y máquinas.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3264" y="1036320"/>
            <a:ext cx="5583936" cy="536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3A6E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1" name="Shape 9"/>
          <p:cNvSpPr/>
          <p:nvPr/>
        </p:nvSpPr>
        <p:spPr>
          <a:xfrm>
            <a:off x="6303264" y="1036320"/>
            <a:ext cx="5583936" cy="63398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2" name="Text 10"/>
          <p:cNvSpPr/>
          <p:nvPr/>
        </p:nvSpPr>
        <p:spPr>
          <a:xfrm>
            <a:off x="6425184" y="1036320"/>
            <a:ext cx="53400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Studer, Benjamins &amp; Fensel, 1998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6144" y="1804416"/>
            <a:ext cx="5218176" cy="1767840"/>
          </a:xfrm>
          <a:prstGeom prst="rect">
            <a:avLst/>
          </a:prstGeom>
          <a:solidFill>
            <a:srgbClr val="1A3A6E">
              <a:alpha val="12000"/>
            </a:srgbClr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/>
          <p:nvPr/>
        </p:nvSpPr>
        <p:spPr>
          <a:xfrm>
            <a:off x="6571488" y="1853184"/>
            <a:ext cx="504748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A3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formal, explicit specification of a shared conceptualization</a:t>
            </a:r>
            <a:endParaRPr lang="en-US" sz="1600" dirty="0"/>
          </a:p>
          <a:p>
            <a:r>
              <a:rPr lang="en-US" sz="1600" i="1" dirty="0">
                <a:solidFill>
                  <a:srgbClr val="1A3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 domain of interest."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6144" y="3694176"/>
            <a:ext cx="521817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la dimensión de ingeniería: las ontologías son artefactos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construidos para capturar y comunicar conocimiento de dominio.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6720" y="6156960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Gruber (1993) Knowledge Acquisition · Studer, Benjamins &amp; Fensel (1998) Data and Knowledge Engineering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D4F6E"/>
          </a:solidFill>
          <a:ln w="12700">
            <a:solidFill>
              <a:srgbClr val="0D4F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463296" y="60960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una Ontología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97280"/>
            <a:ext cx="36576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0D749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609600" y="1316736"/>
            <a:ext cx="670560" cy="670560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609600" y="131673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C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426464" y="13411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Clases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2097024"/>
            <a:ext cx="33162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del dominio.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Book, Author, Publisher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303776" y="1097280"/>
            <a:ext cx="36576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3A6E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0" name="Shape 8"/>
          <p:cNvSpPr/>
          <p:nvPr/>
        </p:nvSpPr>
        <p:spPr>
          <a:xfrm>
            <a:off x="4486656" y="1316736"/>
            <a:ext cx="670560" cy="67056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1" name="Text 9"/>
          <p:cNvSpPr/>
          <p:nvPr/>
        </p:nvSpPr>
        <p:spPr>
          <a:xfrm>
            <a:off x="4486656" y="131673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⊂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5303520" y="13411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Jerarquías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486656" y="2097024"/>
            <a:ext cx="33162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SubClassOf: Author ⊂ Person.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de propiedades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8180832" y="1097280"/>
            <a:ext cx="36576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5" name="Shape 13"/>
          <p:cNvSpPr/>
          <p:nvPr/>
        </p:nvSpPr>
        <p:spPr>
          <a:xfrm>
            <a:off x="8363712" y="1316736"/>
            <a:ext cx="670560" cy="6705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6" name="Text 14"/>
          <p:cNvSpPr/>
          <p:nvPr/>
        </p:nvSpPr>
        <p:spPr>
          <a:xfrm>
            <a:off x="8363712" y="131673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P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180576" y="13411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Propiedades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8363712" y="2097024"/>
            <a:ext cx="33162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ObjectProperty: writtenBy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DataProperty: isbn, title, year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26720" y="3681984"/>
            <a:ext cx="36576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0" name="Shape 18"/>
          <p:cNvSpPr/>
          <p:nvPr/>
        </p:nvSpPr>
        <p:spPr>
          <a:xfrm>
            <a:off x="609600" y="3901440"/>
            <a:ext cx="670560" cy="6705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1" name="Text 19"/>
          <p:cNvSpPr/>
          <p:nvPr/>
        </p:nvSpPr>
        <p:spPr>
          <a:xfrm>
            <a:off x="609600" y="390144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R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426464" y="392582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Restricciones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09600" y="4681728"/>
            <a:ext cx="33162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Dominio, rango, cardinalidad.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isbn exactly 1 xsd:string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4303776" y="3681984"/>
            <a:ext cx="36576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B91C1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5" name="Shape 23"/>
          <p:cNvSpPr/>
          <p:nvPr/>
        </p:nvSpPr>
        <p:spPr>
          <a:xfrm>
            <a:off x="4486656" y="3901440"/>
            <a:ext cx="670560" cy="6705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6" name="Text 24"/>
          <p:cNvSpPr/>
          <p:nvPr/>
        </p:nvSpPr>
        <p:spPr>
          <a:xfrm>
            <a:off x="4486656" y="390144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⊥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5303520" y="392582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Disjunciones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4486656" y="4681728"/>
            <a:ext cx="33162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disjointWith Book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autor no puede ser un libro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8180832" y="3681984"/>
            <a:ext cx="36576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30" name="Shape 28"/>
          <p:cNvSpPr/>
          <p:nvPr/>
        </p:nvSpPr>
        <p:spPr>
          <a:xfrm>
            <a:off x="8363712" y="3901440"/>
            <a:ext cx="670560" cy="6705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1" name="Text 29"/>
          <p:cNvSpPr/>
          <p:nvPr/>
        </p:nvSpPr>
        <p:spPr>
          <a:xfrm>
            <a:off x="8363712" y="390144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●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9180576" y="392582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Individuos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8363712" y="4681728"/>
            <a:ext cx="33162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concretas.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book:Book_0195153448</a:t>
            </a:r>
            <a:endParaRPr lang="en-US"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D4F6E"/>
          </a:solidFill>
          <a:ln w="12700">
            <a:solidFill>
              <a:srgbClr val="0D4F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463296" y="60960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 de Desarrollo: 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8000" y="2950464"/>
            <a:ext cx="26822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3169920" y="2804160"/>
            <a:ext cx="2682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▶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26720" y="1926336"/>
            <a:ext cx="2621280" cy="4328160"/>
          </a:xfrm>
          <a:prstGeom prst="rect">
            <a:avLst/>
          </a:prstGeom>
          <a:solidFill>
            <a:srgbClr val="F0F4FA"/>
          </a:solidFill>
          <a:ln w="12700">
            <a:solidFill>
              <a:srgbClr val="0D749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9" name="Shape 7"/>
          <p:cNvSpPr/>
          <p:nvPr/>
        </p:nvSpPr>
        <p:spPr>
          <a:xfrm>
            <a:off x="426720" y="1926336"/>
            <a:ext cx="2621280" cy="58521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0" name="Text 8"/>
          <p:cNvSpPr/>
          <p:nvPr/>
        </p:nvSpPr>
        <p:spPr>
          <a:xfrm>
            <a:off x="426720" y="1926336"/>
            <a:ext cx="2621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609088"/>
            <a:ext cx="2377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D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0D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486912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alcance y propósito.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Competencia (CQs).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conocimiento.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5937504" y="2950464"/>
            <a:ext cx="26822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/>
          <p:nvPr/>
        </p:nvSpPr>
        <p:spPr>
          <a:xfrm>
            <a:off x="6059424" y="2804160"/>
            <a:ext cx="2682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▶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3316224" y="1926336"/>
            <a:ext cx="2621280" cy="4328160"/>
          </a:xfrm>
          <a:prstGeom prst="rect">
            <a:avLst/>
          </a:prstGeom>
          <a:solidFill>
            <a:srgbClr val="F0F4FA"/>
          </a:solidFill>
          <a:ln w="12700">
            <a:solidFill>
              <a:srgbClr val="1A3A6E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6" name="Shape 14"/>
          <p:cNvSpPr/>
          <p:nvPr/>
        </p:nvSpPr>
        <p:spPr>
          <a:xfrm>
            <a:off x="3316224" y="1926336"/>
            <a:ext cx="2621280" cy="5852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7" name="Text 15"/>
          <p:cNvSpPr/>
          <p:nvPr/>
        </p:nvSpPr>
        <p:spPr>
          <a:xfrm>
            <a:off x="3316224" y="1926336"/>
            <a:ext cx="2621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38144" y="2609088"/>
            <a:ext cx="2377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1A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38144" y="3486912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en OWL.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propiedades, axiomas.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Protégé.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8827008" y="2950464"/>
            <a:ext cx="26822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1" name="Text 19"/>
          <p:cNvSpPr/>
          <p:nvPr/>
        </p:nvSpPr>
        <p:spPr>
          <a:xfrm>
            <a:off x="8948928" y="2804160"/>
            <a:ext cx="26822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▶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205728" y="1926336"/>
            <a:ext cx="2621280" cy="4328160"/>
          </a:xfrm>
          <a:prstGeom prst="rect">
            <a:avLst/>
          </a:prstGeom>
          <a:solidFill>
            <a:srgbClr val="F0F4FA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3" name="Shape 21"/>
          <p:cNvSpPr/>
          <p:nvPr/>
        </p:nvSpPr>
        <p:spPr>
          <a:xfrm>
            <a:off x="6205728" y="1926336"/>
            <a:ext cx="2621280" cy="5852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4" name="Text 22"/>
          <p:cNvSpPr/>
          <p:nvPr/>
        </p:nvSpPr>
        <p:spPr>
          <a:xfrm>
            <a:off x="6205728" y="1926336"/>
            <a:ext cx="2621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27648" y="2609088"/>
            <a:ext cx="2377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7648" y="3486912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publicación.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URIs.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Formatos: Turtle, JSON-LD.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9095232" y="1926336"/>
            <a:ext cx="2621280" cy="4328160"/>
          </a:xfrm>
          <a:prstGeom prst="rect">
            <a:avLst/>
          </a:prstGeom>
          <a:solidFill>
            <a:srgbClr val="F0F4FA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8" name="Shape 26"/>
          <p:cNvSpPr/>
          <p:nvPr/>
        </p:nvSpPr>
        <p:spPr>
          <a:xfrm>
            <a:off x="9095232" y="1926336"/>
            <a:ext cx="2621280" cy="5852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9" name="Text 27"/>
          <p:cNvSpPr/>
          <p:nvPr/>
        </p:nvSpPr>
        <p:spPr>
          <a:xfrm>
            <a:off x="9095232" y="1926336"/>
            <a:ext cx="2621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217152" y="2609088"/>
            <a:ext cx="2377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17152" y="3486912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y versionado.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errores.</a:t>
            </a:r>
            <a:endParaRPr lang="en-US" sz="1467" dirty="0"/>
          </a:p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requisitos.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426720" y="6156960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Poveda-Villalón et al. (2022) Engineering Applications of Artificial Intelligence, 111, 104755</a:t>
            </a:r>
            <a:endParaRPr lang="en-US" sz="11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0D4F6E"/>
          </a:solidFill>
          <a:ln w="12700">
            <a:solidFill>
              <a:srgbClr val="0D4F6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" name="Text 1"/>
          <p:cNvSpPr/>
          <p:nvPr/>
        </p:nvSpPr>
        <p:spPr>
          <a:xfrm>
            <a:off x="463296" y="60960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de Ontologías — Themis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36320"/>
            <a:ext cx="5486400" cy="536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0D749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426720" y="1036320"/>
            <a:ext cx="5486400" cy="60960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548640" y="1036320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Themis?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548640" y="1767840"/>
            <a:ext cx="5242560" cy="445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verificación de ontologías basada en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léxico-sintácticos (Fernández Izquierdo, PhD 2022).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validar que la ontología cumple los requisitos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expresados como preguntas de competencia (CQs).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en: themis.linkeddata.es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036320"/>
            <a:ext cx="560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4F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test soportados: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217920" y="1682496"/>
            <a:ext cx="5547360" cy="7924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0" name="Shape 8"/>
          <p:cNvSpPr/>
          <p:nvPr/>
        </p:nvSpPr>
        <p:spPr>
          <a:xfrm>
            <a:off x="6217920" y="1682496"/>
            <a:ext cx="304800" cy="79248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1" name="Text 9"/>
          <p:cNvSpPr/>
          <p:nvPr/>
        </p:nvSpPr>
        <p:spPr>
          <a:xfrm>
            <a:off x="6608064" y="1731264"/>
            <a:ext cx="50596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[ClassA] type Class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6608064" y="2097024"/>
            <a:ext cx="505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Book type Class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547360" cy="7924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304800" cy="79248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5" name="Text 13"/>
          <p:cNvSpPr/>
          <p:nvPr/>
        </p:nvSpPr>
        <p:spPr>
          <a:xfrm>
            <a:off x="6608064" y="2609088"/>
            <a:ext cx="50596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[ClassA] SubClassOf [ClassB]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608064" y="2974848"/>
            <a:ext cx="505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Author SubClassOf Person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6217920" y="3438144"/>
            <a:ext cx="5547360" cy="7924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8" name="Shape 16"/>
          <p:cNvSpPr/>
          <p:nvPr/>
        </p:nvSpPr>
        <p:spPr>
          <a:xfrm>
            <a:off x="6217920" y="3438144"/>
            <a:ext cx="304800" cy="79248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9" name="Text 17"/>
          <p:cNvSpPr/>
          <p:nvPr/>
        </p:nvSpPr>
        <p:spPr>
          <a:xfrm>
            <a:off x="6608064" y="3486912"/>
            <a:ext cx="50596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[Prop] domain [ClassA]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608064" y="3852672"/>
            <a:ext cx="505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writtenBy domain Book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6217920" y="4315968"/>
            <a:ext cx="5547360" cy="7924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2" name="Shape 20"/>
          <p:cNvSpPr/>
          <p:nvPr/>
        </p:nvSpPr>
        <p:spPr>
          <a:xfrm>
            <a:off x="6217920" y="4315968"/>
            <a:ext cx="304800" cy="79248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3" name="Text 21"/>
          <p:cNvSpPr/>
          <p:nvPr/>
        </p:nvSpPr>
        <p:spPr>
          <a:xfrm>
            <a:off x="6608064" y="4364736"/>
            <a:ext cx="50596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[Prop] range [ClassB]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608064" y="4730496"/>
            <a:ext cx="505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yearOfPublication range xsd:integer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6217920" y="5193792"/>
            <a:ext cx="5547360" cy="792480"/>
          </a:xfrm>
          <a:prstGeom prst="rect">
            <a:avLst/>
          </a:prstGeom>
          <a:solidFill>
            <a:srgbClr val="F0F4FA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26" name="Shape 24"/>
          <p:cNvSpPr/>
          <p:nvPr/>
        </p:nvSpPr>
        <p:spPr>
          <a:xfrm>
            <a:off x="6217920" y="5193792"/>
            <a:ext cx="304800" cy="79248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7" name="Text 25"/>
          <p:cNvSpPr/>
          <p:nvPr/>
        </p:nvSpPr>
        <p:spPr>
          <a:xfrm>
            <a:off x="6608064" y="5242560"/>
            <a:ext cx="50596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[ClassA] disjointWith [ClassB]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608064" y="5608320"/>
            <a:ext cx="505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Author disjointWith Book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426720" y="6156960"/>
            <a:ext cx="11338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Fernández Izquierdo, A. — Ontology verification based on lexico-syntactic patterns. PhD Thesis, 2022</a:t>
            </a:r>
            <a:endParaRPr lang="en-US" sz="11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437</Words>
  <Application>Microsoft Office PowerPoint</Application>
  <PresentationFormat>Panorámica</PresentationFormat>
  <Paragraphs>95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Georgia</vt:lpstr>
      <vt:lpstr>Trebuchet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victox 85</dc:creator>
  <cp:lastModifiedBy>victox 85</cp:lastModifiedBy>
  <cp:revision>2</cp:revision>
  <dcterms:created xsi:type="dcterms:W3CDTF">2026-02-26T00:32:42Z</dcterms:created>
  <dcterms:modified xsi:type="dcterms:W3CDTF">2026-02-26T00:54:28Z</dcterms:modified>
</cp:coreProperties>
</file>