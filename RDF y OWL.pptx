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65" r:id="rId2"/>
    <p:sldId id="266" r:id="rId3"/>
    <p:sldId id="267" r:id="rId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562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753268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D1B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F4A018"/>
          </a:solidFill>
          <a:ln w="12700">
            <a:solidFill>
              <a:srgbClr val="F4A01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7315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RDF, OWL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 Instancias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2788920"/>
            <a:ext cx="4114800" cy="45720"/>
          </a:xfrm>
          <a:prstGeom prst="rect">
            <a:avLst/>
          </a:prstGeom>
          <a:solidFill>
            <a:srgbClr val="F4A018"/>
          </a:solidFill>
          <a:ln w="12700">
            <a:solidFill>
              <a:srgbClr val="F4A01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640080" y="2926080"/>
            <a:ext cx="7498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8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datos RDF · OWL como extensión · </a:t>
            </a:r>
            <a:r>
              <a:rPr lang="en-US" sz="1400" dirty="0" err="1">
                <a:solidFill>
                  <a:srgbClr val="C8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instancias</a:t>
            </a:r>
            <a:r>
              <a:rPr lang="en-US" sz="1400" dirty="0">
                <a:solidFill>
                  <a:srgbClr val="C8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 CSV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2D1B69"/>
          </a:solidFill>
          <a:ln w="12700">
            <a:solidFill>
              <a:srgbClr val="2D1B6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47472" y="45720"/>
            <a:ext cx="8503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RDF y su relación con OWL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92608" y="777240"/>
            <a:ext cx="4133088" cy="4041648"/>
          </a:xfrm>
          <a:prstGeom prst="rect">
            <a:avLst/>
          </a:prstGeom>
          <a:solidFill>
            <a:srgbClr val="F0F4FA"/>
          </a:solidFill>
          <a:ln w="12700">
            <a:solidFill>
              <a:srgbClr val="0D7490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292608" y="777240"/>
            <a:ext cx="4133088" cy="475488"/>
          </a:xfrm>
          <a:prstGeom prst="rect">
            <a:avLst/>
          </a:prstGeom>
          <a:solidFill>
            <a:srgbClr val="0D7490"/>
          </a:solidFill>
          <a:ln w="12700">
            <a:solidFill>
              <a:srgbClr val="0D749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384048" y="777240"/>
            <a:ext cx="395020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RDF — Resource Description Framework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1389888"/>
            <a:ext cx="1005840" cy="457200"/>
          </a:xfrm>
          <a:prstGeom prst="ellipse">
            <a:avLst/>
          </a:prstGeom>
          <a:solidFill>
            <a:srgbClr val="0D7490">
              <a:alpha val="80000"/>
            </a:srgbClr>
          </a:solidFill>
          <a:ln w="12700">
            <a:solidFill>
              <a:srgbClr val="0D749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457200" y="1389888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Sujeto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463040" y="1618488"/>
            <a:ext cx="502920" cy="0"/>
          </a:xfrm>
          <a:prstGeom prst="line">
            <a:avLst/>
          </a:prstGeom>
          <a:noFill/>
          <a:ln w="25400">
            <a:solidFill>
              <a:srgbClr val="0D749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1965960" y="1389888"/>
            <a:ext cx="960120" cy="457200"/>
          </a:xfrm>
          <a:prstGeom prst="ellipse">
            <a:avLst/>
          </a:prstGeom>
          <a:solidFill>
            <a:srgbClr val="0D7490">
              <a:alpha val="80000"/>
            </a:srgbClr>
          </a:solidFill>
          <a:ln w="12700">
            <a:solidFill>
              <a:srgbClr val="0D749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1965960" y="1389888"/>
            <a:ext cx="960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Predicado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926080" y="1618488"/>
            <a:ext cx="502920" cy="0"/>
          </a:xfrm>
          <a:prstGeom prst="line">
            <a:avLst/>
          </a:prstGeom>
          <a:noFill/>
          <a:ln w="25400">
            <a:solidFill>
              <a:srgbClr val="0D749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Shape 11"/>
          <p:cNvSpPr/>
          <p:nvPr/>
        </p:nvSpPr>
        <p:spPr>
          <a:xfrm>
            <a:off x="3429000" y="1389888"/>
            <a:ext cx="914400" cy="457200"/>
          </a:xfrm>
          <a:prstGeom prst="ellipse">
            <a:avLst/>
          </a:prstGeom>
          <a:solidFill>
            <a:srgbClr val="0D7490">
              <a:alpha val="80000"/>
            </a:srgbClr>
          </a:solidFill>
          <a:ln w="12700">
            <a:solidFill>
              <a:srgbClr val="0D749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3429000" y="1389888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Objeto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84048" y="2578608"/>
            <a:ext cx="39319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Estándar W3C para describir recursos.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Modelo de datos: tripletas S → P → O.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Permite enlazar datos (Linked Data).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Serializable en Turtle, JSON-LD, N-Triples.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18304" y="777240"/>
            <a:ext cx="4133088" cy="4041648"/>
          </a:xfrm>
          <a:prstGeom prst="rect">
            <a:avLst/>
          </a:prstGeom>
          <a:solidFill>
            <a:srgbClr val="F0F4FA"/>
          </a:solidFill>
          <a:ln w="12700">
            <a:solidFill>
              <a:srgbClr val="6D28D9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8" name="Shape 16"/>
          <p:cNvSpPr/>
          <p:nvPr/>
        </p:nvSpPr>
        <p:spPr>
          <a:xfrm>
            <a:off x="4718304" y="777240"/>
            <a:ext cx="4133088" cy="47548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4809744" y="777240"/>
            <a:ext cx="395020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OWL — Web Ontology Language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809744" y="1335024"/>
            <a:ext cx="3931920" cy="3364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OWL extiende RDF añadiendo: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Clases y jerarquías (SubClassOf)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Propiedades tipadas (Object / Data)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Restricciones lógicas (some, only, exactly)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Disjunciones y equivalencias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Razonamiento automático (DL)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Estándar W3C — OWL 2 desde 2009.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986784" y="2304288"/>
            <a:ext cx="256032" cy="1005840"/>
          </a:xfrm>
          <a:prstGeom prst="rect">
            <a:avLst/>
          </a:prstGeom>
          <a:solidFill>
            <a:srgbClr val="F4A018"/>
          </a:solidFill>
          <a:ln w="12700">
            <a:solidFill>
              <a:srgbClr val="F4A01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3858768" y="260604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4A018"/>
                </a:solidFill>
              </a:rPr>
              <a:t>⊆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2D1B69"/>
          </a:solidFill>
          <a:ln w="12700">
            <a:solidFill>
              <a:srgbClr val="2D1B6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47472" y="45720"/>
            <a:ext cx="8503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Instancias</a:t>
            </a: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RDF — formato Turtle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292608" y="1216152"/>
            <a:ext cx="8558784" cy="685800"/>
          </a:xfrm>
          <a:prstGeom prst="rect">
            <a:avLst/>
          </a:prstGeom>
          <a:solidFill>
            <a:srgbClr val="F0F4FA"/>
          </a:solidFill>
          <a:ln w="12700">
            <a:solidFill>
              <a:srgbClr val="CBD5E1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402336" y="1335024"/>
            <a:ext cx="438912" cy="438912"/>
          </a:xfrm>
          <a:prstGeom prst="ellipse">
            <a:avLst/>
          </a:prstGeom>
          <a:solidFill>
            <a:srgbClr val="2D1B69"/>
          </a:solidFill>
          <a:ln w="12700">
            <a:solidFill>
              <a:srgbClr val="2D1B6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402336" y="13350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50976" y="1389888"/>
            <a:ext cx="1005840" cy="274320"/>
          </a:xfrm>
          <a:prstGeom prst="rect">
            <a:avLst/>
          </a:prstGeom>
          <a:solidFill>
            <a:srgbClr val="2D1B69">
              <a:alpha val="18000"/>
            </a:srgbClr>
          </a:solidFill>
          <a:ln w="12700">
            <a:solidFill>
              <a:srgbClr val="2D1B6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950976" y="138988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D1B69"/>
                </a:solidFill>
              </a:rPr>
              <a:t>book:Book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057400" y="126187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book:Book_0195153448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057400" y="154533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"Classical Mythology"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806440" y="1261872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isbn: 0195153448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806440" y="1490472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writtenBy: book:MarkMorford  ·  year: 2002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806440" y="1673352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publishedBy: book:OxfordUniversityPress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292608" y="1975104"/>
            <a:ext cx="8558784" cy="685800"/>
          </a:xfrm>
          <a:prstGeom prst="rect">
            <a:avLst/>
          </a:prstGeom>
          <a:solidFill>
            <a:srgbClr val="F0F4FA"/>
          </a:solidFill>
          <a:ln w="12700">
            <a:solidFill>
              <a:srgbClr val="CBD5E1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7" name="Shape 15"/>
          <p:cNvSpPr/>
          <p:nvPr/>
        </p:nvSpPr>
        <p:spPr>
          <a:xfrm>
            <a:off x="402336" y="2093976"/>
            <a:ext cx="438912" cy="438912"/>
          </a:xfrm>
          <a:prstGeom prst="ellipse">
            <a:avLst/>
          </a:prstGeom>
          <a:solidFill>
            <a:srgbClr val="2D1B69"/>
          </a:solidFill>
          <a:ln w="12700">
            <a:solidFill>
              <a:srgbClr val="2D1B6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402336" y="209397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50976" y="2148840"/>
            <a:ext cx="1005840" cy="274320"/>
          </a:xfrm>
          <a:prstGeom prst="rect">
            <a:avLst/>
          </a:prstGeom>
          <a:solidFill>
            <a:srgbClr val="2D1B69">
              <a:alpha val="18000"/>
            </a:srgbClr>
          </a:solidFill>
          <a:ln w="12700">
            <a:solidFill>
              <a:srgbClr val="2D1B6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950976" y="214884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D1B69"/>
                </a:solidFill>
              </a:rPr>
              <a:t>book:Book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057400" y="202082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book:Book_0060973129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057400" y="230428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"Decision in Normandy"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806440" y="2020824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isbn: 0060973129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806440" y="2249424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writtenBy: book:CarloD_Este  ·  year: 1991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806440" y="2432304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publishedBy: book:HarperPerennial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292608" y="2734056"/>
            <a:ext cx="8558784" cy="685800"/>
          </a:xfrm>
          <a:prstGeom prst="rect">
            <a:avLst/>
          </a:prstGeom>
          <a:solidFill>
            <a:srgbClr val="F0F4FA"/>
          </a:solidFill>
          <a:ln w="12700">
            <a:solidFill>
              <a:srgbClr val="CBD5E1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7" name="Shape 25"/>
          <p:cNvSpPr/>
          <p:nvPr/>
        </p:nvSpPr>
        <p:spPr>
          <a:xfrm>
            <a:off x="402336" y="2852928"/>
            <a:ext cx="438912" cy="438912"/>
          </a:xfrm>
          <a:prstGeom prst="ellipse">
            <a:avLst/>
          </a:prstGeom>
          <a:solidFill>
            <a:srgbClr val="2D1B69"/>
          </a:solidFill>
          <a:ln w="12700">
            <a:solidFill>
              <a:srgbClr val="2D1B6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26"/>
          <p:cNvSpPr/>
          <p:nvPr/>
        </p:nvSpPr>
        <p:spPr>
          <a:xfrm>
            <a:off x="402336" y="28529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950976" y="2907792"/>
            <a:ext cx="1005840" cy="274320"/>
          </a:xfrm>
          <a:prstGeom prst="rect">
            <a:avLst/>
          </a:prstGeom>
          <a:solidFill>
            <a:srgbClr val="2D1B69">
              <a:alpha val="18000"/>
            </a:srgbClr>
          </a:solidFill>
          <a:ln w="12700">
            <a:solidFill>
              <a:srgbClr val="2D1B6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0" name="Text 28"/>
          <p:cNvSpPr/>
          <p:nvPr/>
        </p:nvSpPr>
        <p:spPr>
          <a:xfrm>
            <a:off x="950976" y="290779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D1B69"/>
                </a:solidFill>
              </a:rPr>
              <a:t>book:Book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2057400" y="277977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book:Book_0374157065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057400" y="306324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"Flu: The Story of the Great Influenza..."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806440" y="2779776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isbn: 0374157065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806440" y="3008376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writtenBy: book:GinaKolata  ·  year: 1999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806440" y="3191256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publishedBy: book:FarrarStrausGiroux</a:t>
            </a:r>
            <a:endParaRPr lang="en-US" sz="880" dirty="0"/>
          </a:p>
        </p:txBody>
      </p:sp>
      <p:sp>
        <p:nvSpPr>
          <p:cNvPr id="36" name="Shape 34"/>
          <p:cNvSpPr/>
          <p:nvPr/>
        </p:nvSpPr>
        <p:spPr>
          <a:xfrm>
            <a:off x="292608" y="3493008"/>
            <a:ext cx="8558784" cy="685800"/>
          </a:xfrm>
          <a:prstGeom prst="rect">
            <a:avLst/>
          </a:prstGeom>
          <a:solidFill>
            <a:srgbClr val="F0F4FA"/>
          </a:solidFill>
          <a:ln w="12700">
            <a:solidFill>
              <a:srgbClr val="CBD5E1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7" name="Shape 35"/>
          <p:cNvSpPr/>
          <p:nvPr/>
        </p:nvSpPr>
        <p:spPr>
          <a:xfrm>
            <a:off x="402336" y="3611880"/>
            <a:ext cx="438912" cy="438912"/>
          </a:xfrm>
          <a:prstGeom prst="ellipse">
            <a:avLst/>
          </a:prstGeom>
          <a:solidFill>
            <a:srgbClr val="2D1B69"/>
          </a:solidFill>
          <a:ln w="12700">
            <a:solidFill>
              <a:srgbClr val="2D1B6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8" name="Text 36"/>
          <p:cNvSpPr/>
          <p:nvPr/>
        </p:nvSpPr>
        <p:spPr>
          <a:xfrm>
            <a:off x="402336" y="361188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950976" y="3666744"/>
            <a:ext cx="1005840" cy="274320"/>
          </a:xfrm>
          <a:prstGeom prst="rect">
            <a:avLst/>
          </a:prstGeom>
          <a:solidFill>
            <a:srgbClr val="2D1B69">
              <a:alpha val="18000"/>
            </a:srgbClr>
          </a:solidFill>
          <a:ln w="12700">
            <a:solidFill>
              <a:srgbClr val="2D1B6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0" name="Text 38"/>
          <p:cNvSpPr/>
          <p:nvPr/>
        </p:nvSpPr>
        <p:spPr>
          <a:xfrm>
            <a:off x="950976" y="366674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D1B69"/>
                </a:solidFill>
              </a:rPr>
              <a:t>book:Book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2057400" y="353872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book:Book_0393045218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2057400" y="382219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Mummies of Urumchi"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806440" y="3538728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isbn: 0393045218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5806440" y="3767328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writtenBy: book:EJWBarber  ·  year: 1999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806440" y="3950208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publishedBy: book:WW_Norton</a:t>
            </a:r>
            <a:endParaRPr lang="en-US" sz="880" dirty="0"/>
          </a:p>
        </p:txBody>
      </p:sp>
      <p:sp>
        <p:nvSpPr>
          <p:cNvPr id="46" name="Shape 44"/>
          <p:cNvSpPr/>
          <p:nvPr/>
        </p:nvSpPr>
        <p:spPr>
          <a:xfrm>
            <a:off x="292608" y="4251960"/>
            <a:ext cx="8558784" cy="685800"/>
          </a:xfrm>
          <a:prstGeom prst="rect">
            <a:avLst/>
          </a:prstGeom>
          <a:solidFill>
            <a:srgbClr val="F0F4FA"/>
          </a:solidFill>
          <a:ln w="12700">
            <a:solidFill>
              <a:srgbClr val="CBD5E1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47" name="Shape 45"/>
          <p:cNvSpPr/>
          <p:nvPr/>
        </p:nvSpPr>
        <p:spPr>
          <a:xfrm>
            <a:off x="402336" y="4370832"/>
            <a:ext cx="438912" cy="438912"/>
          </a:xfrm>
          <a:prstGeom prst="ellipse">
            <a:avLst/>
          </a:prstGeom>
          <a:solidFill>
            <a:srgbClr val="2D1B69"/>
          </a:solidFill>
          <a:ln w="12700">
            <a:solidFill>
              <a:srgbClr val="2D1B6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8" name="Text 46"/>
          <p:cNvSpPr/>
          <p:nvPr/>
        </p:nvSpPr>
        <p:spPr>
          <a:xfrm>
            <a:off x="402336" y="437083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950976" y="4425696"/>
            <a:ext cx="1005840" cy="274320"/>
          </a:xfrm>
          <a:prstGeom prst="rect">
            <a:avLst/>
          </a:prstGeom>
          <a:solidFill>
            <a:srgbClr val="2D1B69">
              <a:alpha val="18000"/>
            </a:srgbClr>
          </a:solidFill>
          <a:ln w="12700">
            <a:solidFill>
              <a:srgbClr val="2D1B6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0" name="Text 48"/>
          <p:cNvSpPr/>
          <p:nvPr/>
        </p:nvSpPr>
        <p:spPr>
          <a:xfrm>
            <a:off x="950976" y="4425696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D1B69"/>
                </a:solidFill>
              </a:rPr>
              <a:t>book:Book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2057400" y="42976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book:Book_0399135782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2057400" y="458114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Kitchen God's Wife"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5806440" y="429768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isbn: 0399135782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5806440" y="452628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writtenBy: book:AmyTan  ·  year: 1991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5806440" y="4709160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publishedBy: book:PutnamPubGroup</a:t>
            </a:r>
            <a:endParaRPr lang="en-US" sz="8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294</Words>
  <Application>Microsoft Office PowerPoint</Application>
  <PresentationFormat>Presentación en pantalla (16:9)</PresentationFormat>
  <Paragraphs>62</Paragraphs>
  <Slides>3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8" baseType="lpstr">
      <vt:lpstr>Arial</vt:lpstr>
      <vt:lpstr>Calibri</vt:lpstr>
      <vt:lpstr>Consolas</vt:lpstr>
      <vt:lpstr>Trebuchet MS</vt:lpstr>
      <vt:lpstr>Office Theme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Ontologías, RDF y Themis</dc:title>
  <dc:subject>PptxGenJS Presentation</dc:subject>
  <dc:creator>PptxGenJS</dc:creator>
  <cp:lastModifiedBy>victox 85</cp:lastModifiedBy>
  <cp:revision>2</cp:revision>
  <dcterms:created xsi:type="dcterms:W3CDTF">2026-02-25T23:48:54Z</dcterms:created>
  <dcterms:modified xsi:type="dcterms:W3CDTF">2026-02-26T00:36:19Z</dcterms:modified>
</cp:coreProperties>
</file>